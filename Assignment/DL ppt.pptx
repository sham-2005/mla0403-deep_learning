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21"/>
  </p:notesMasterIdLst>
  <p:sldIdLst>
    <p:sldId id="319" r:id="rId2"/>
    <p:sldId id="444" r:id="rId3"/>
    <p:sldId id="316" r:id="rId4"/>
    <p:sldId id="450" r:id="rId5"/>
    <p:sldId id="449" r:id="rId6"/>
    <p:sldId id="420" r:id="rId7"/>
    <p:sldId id="451" r:id="rId8"/>
    <p:sldId id="443" r:id="rId9"/>
    <p:sldId id="445" r:id="rId10"/>
    <p:sldId id="458" r:id="rId11"/>
    <p:sldId id="448" r:id="rId12"/>
    <p:sldId id="457" r:id="rId13"/>
    <p:sldId id="427" r:id="rId14"/>
    <p:sldId id="453" r:id="rId15"/>
    <p:sldId id="454" r:id="rId16"/>
    <p:sldId id="455" r:id="rId17"/>
    <p:sldId id="456" r:id="rId18"/>
    <p:sldId id="452" r:id="rId19"/>
    <p:sldId id="42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4291" autoAdjust="0"/>
  </p:normalViewPr>
  <p:slideViewPr>
    <p:cSldViewPr>
      <p:cViewPr varScale="1">
        <p:scale>
          <a:sx n="96" d="100"/>
          <a:sy n="96" d="100"/>
        </p:scale>
        <p:origin x="101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8A71-767C-ED95-6CA9-8CC7945EF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EB7A3-83FC-EEB5-EC4C-677565344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B2655-0FAE-0C64-DBCC-6D8D5A86C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C1607-86E0-B399-1894-628276A8D0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6890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B337-5C48-BDA2-E451-EFA7DB1A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9E5A7-C39E-D3A3-7DDA-AAE2CED5D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29B92-8472-202B-8A83-304928E50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0BB46-6E38-DB98-9991-A8BE2CB21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9897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120A3-FEC3-ADEF-625C-1855A4FC7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CFE0C-C0DF-5D0E-FBB0-CFD022D0D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33F05-F82A-A81B-C514-7DFE2E122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B760B-A6BD-F3EB-515E-8753A2EC59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708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9CC9D-484B-F634-C410-FB1BF1EA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D9436-7DE7-B4F7-C98B-7B000C2F3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F29FC-43AE-FACA-7FC2-811E35C50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D3B51-2DF2-2B15-C95C-F90694BA64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5245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FB521-F9A3-3735-7207-104C9A962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FC17A-309B-87AD-5FA9-9EEFC4DF7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42A78-27D4-A0EE-1E77-CDE32B4CC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54B28-90C1-70EE-117B-5CC1FE593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371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811D-EC9E-7484-99F4-79F9E2BB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84080-E6FA-1F06-7AEA-C3A1A9109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FCD66-DA33-A49C-8555-B1EC895D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427F7-461F-B3F3-31F3-958A539B91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4134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671C-78C4-CCB2-5BB3-08AF7526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6046B-CB53-55BB-704C-BD8028AD4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7DEDEF-83DC-79B1-8832-1E6244D6A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9C32F-92F5-95BB-34BE-A370CDE37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038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1D56-F0E7-4619-0D29-C727005E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8B86FD-7C20-5EDF-4A1B-3625396BD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0CFC2-61C5-626A-C672-AC68D3255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05F83-A84B-8818-4597-36F1607A6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7132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DFC0-4ED3-01A6-8A49-0958E3D82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478C1-5C0A-7BBC-8CD5-7818146C9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28483-61C2-7A44-0A2A-7D65E3810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23847-4B51-5056-1A60-951C2A0206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9153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3A789-D774-E089-3B3C-6858E302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8D6B5-59B9-8466-74D2-61231A7ED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D05F7-6535-5F93-1F29-5A206E69F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7FD66-E42B-CE2D-9C08-16DC5F556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9596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8F326-018D-76A0-DA49-B1FD3CBF0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7D197-874E-A9AD-44CB-3B5F24729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B1AF5-C1C5-13CD-559B-C7EB778FB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D9218-1D40-ABF3-CDE2-D67D5F0ACD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5117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DF36-D9D7-4346-3369-56BC08F6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BA623-3351-AAAC-73E1-1BCDC4D1C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761AB-1221-B02B-FF41-E6CB1E9AC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9CBFC-4FBA-AB79-419F-12B6103D2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94966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228600" y="1372519"/>
            <a:ext cx="8686800" cy="1370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Capstone Project 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Real time fire and smoke detection using Deep learning using transfer learning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Team no. 2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MLA0403 – Deep Learning 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Guided By								Students Name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Dr.A.M.Arul Raj 						      Sham S.-192325076 Professor								      Aravind </a:t>
            </a:r>
            <a:r>
              <a:rPr lang="en-US" sz="20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kumar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V.-192325148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Institute of Saveetha						Hemanth-192325088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SIMATS Engineering						Harsha Vardhan-192325115 											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1266C-35D3-8D24-EBA3-91AD3C9F4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400"/>
            <a:ext cx="7086600" cy="213360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&amp; smoke detection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system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approach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E6A4071-3DA5-B69A-C498-684731D73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1105BA-0AEE-EE52-28DC-37560915DD44}"/>
              </a:ext>
            </a:extLst>
          </p:cNvPr>
          <p:cNvSpPr txBox="1"/>
          <p:nvPr/>
        </p:nvSpPr>
        <p:spPr>
          <a:xfrm>
            <a:off x="5181600" y="2747197"/>
            <a:ext cx="3657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model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feature extraction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stream analysis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detection accuracy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response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71938"/>
            <a:ext cx="7086600" cy="3200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fire detection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smoke detection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generation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approach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Camera-based visual monitoring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047F31A-2633-AEA2-CF58-C78E2A508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60733B-F305-3A62-D68A-10812517E6DC}"/>
              </a:ext>
            </a:extLst>
          </p:cNvPr>
          <p:cNvSpPr txBox="1"/>
          <p:nvPr/>
        </p:nvSpPr>
        <p:spPr>
          <a:xfrm>
            <a:off x="4697813" y="2424408"/>
            <a:ext cx="4370401" cy="37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and smoke dataset preparation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fine-tuning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F07E-3949-7DB0-E5E0-24AE3DF3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52E54-7B56-81D5-D3CA-7B30F005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96C34-AB33-A882-BFE7-6EB498289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400"/>
            <a:ext cx="7086600" cy="320040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fire accidents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damage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life risk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in manual detection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monitoring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8AF02-A225-E610-F6A8-D6F33FC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037AB08D-F243-02B7-AF75-4C2CE246F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75E1A7-5C90-9EBE-5881-330793FE7AFF}"/>
              </a:ext>
            </a:extLst>
          </p:cNvPr>
          <p:cNvSpPr txBox="1"/>
          <p:nvPr/>
        </p:nvSpPr>
        <p:spPr>
          <a:xfrm>
            <a:off x="4953000" y="3048000"/>
            <a:ext cx="38862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recognition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surveillance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emergency response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5996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891F0-2CDF-E57E-D9A2-D681BC131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7AB2-5068-8F17-D6CD-1B8F155F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Litrature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Survey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98D8-3052-69E5-1AAC-5ACE947B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6E0756C-BB66-3D48-A7AF-0ADDFE978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B299FC5-3555-3AE9-E1CF-C7D0A21C4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369663"/>
              </p:ext>
            </p:extLst>
          </p:nvPr>
        </p:nvGraphicFramePr>
        <p:xfrm>
          <a:off x="533400" y="2418556"/>
          <a:ext cx="8077200" cy="3753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4195491469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5109839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2429626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74601659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665851875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952684624"/>
                    </a:ext>
                  </a:extLst>
                </a:gridCol>
              </a:tblGrid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81826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Muhammad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ResNet50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656275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Elsevier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MobileNetV2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60877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Zhang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VGG16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416573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Kumar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IEEE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YOLOv8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748353"/>
                  </a:ext>
                </a:extLst>
              </a:tr>
              <a:tr h="625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EfficientNet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08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7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49" y="13716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2209800"/>
            <a:ext cx="7086600" cy="266700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fire detection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monitoring dependency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alarms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detection accuracy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smoke recognition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property loss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challenges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 monitoring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6F13DE02-BBC8-728C-D681-DB3D5A76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4A04-4BDC-61E3-4462-BC822182B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762A-C345-D2E5-1CF5-671D016F6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F8190-C2B0-C342-BD08-AEBCD0DFD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214404"/>
            <a:ext cx="7086600" cy="3200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 detectors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detectors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Flame sensors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CCTV monitoring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Threshold-based alarm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B4626-CB9C-1592-1FD5-0CC32E20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12A6C473-B943-3080-A29D-32404C55C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81A601-5128-6E9E-4207-82CB4DB6B216}"/>
              </a:ext>
            </a:extLst>
          </p:cNvPr>
          <p:cNvSpPr txBox="1"/>
          <p:nvPr/>
        </p:nvSpPr>
        <p:spPr>
          <a:xfrm>
            <a:off x="4800600" y="2077832"/>
            <a:ext cx="464820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placement dependency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visual information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dependency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requirements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alarms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learned visual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9359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FDEF0-AD0C-9BFB-6E5D-7D68B25AA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400"/>
            <a:ext cx="7086600" cy="320040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surveillance cameras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fire datasets (Kaggle,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monitoring cameras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surveillance cameras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security cameras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6C61642-1D4B-1734-B97B-9D1655E2F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C254-3669-F66B-A4F0-60A2EBE8C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07DF-87B3-B0CD-6BD9-1843A8099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OutCome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1F96E-D82C-D736-7EC3-41537C326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400"/>
            <a:ext cx="7772400" cy="3200400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Detected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Red bounding box + Alert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 Detected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Yellow bounding box + Alert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Fire/Smoke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Normal monitoring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e.g., Fire: 98.6%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Notification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Alarm/SMS/Email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0DEF8-B5D1-580F-FE28-5B88735C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8FD8254A-0F38-B71A-C5A2-F35379A1C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926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17EDD-A0F4-BFA5-ED26-4D4327783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8C59C-E16D-923C-3634-194E323D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 dirty="0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57046DD8-4109-837B-D548-61A92ABA9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4D82D8-1F6A-F624-CB9A-A74C6B020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85" y="1219390"/>
            <a:ext cx="78867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2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3B9B0-24AC-7E5B-953F-9E32171D0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3B74-BC1E-F666-9CB0-F4726E26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1135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Sustainable Development Goal (SDG)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A0685F-D258-E136-F318-FB39EBED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38EE094-0880-C93B-26EF-1CB4373E4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33400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8BC9CD6A-946D-BCFB-51C4-79CF65322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8117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CE38-87E1-16DD-7917-E4CC93DDCEB1}"/>
              </a:ext>
            </a:extLst>
          </p:cNvPr>
          <p:cNvSpPr txBox="1">
            <a:spLocks/>
          </p:cNvSpPr>
          <p:nvPr/>
        </p:nvSpPr>
        <p:spPr>
          <a:xfrm>
            <a:off x="914400" y="1752600"/>
            <a:ext cx="7772400" cy="48243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SDG 11 – Sustainable Cities and Communities (Primary SDG)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cities and human settlements safe, resilient, and sustainable.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SDG 9 – Industry, Innovation and Infrastructure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resilient infrastructure, promote sustainable industrialization, and foster innovation.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SDG 13 – Climate Action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 urgent action to combat climate change and its impacts.</a:t>
            </a:r>
          </a:p>
        </p:txBody>
      </p:sp>
    </p:spTree>
    <p:extLst>
      <p:ext uri="{BB962C8B-B14F-4D97-AF65-F5344CB8AC3E}">
        <p14:creationId xmlns:p14="http://schemas.microsoft.com/office/powerpoint/2010/main" val="342250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5BD21-7181-ED34-079C-0DDE3E3EA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C6B2-4EB8-FCC6-9360-9F9EA403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1422242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METHODOLOGY AND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4F18C-7B35-C837-4DBA-196AFE04B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25" y="2362200"/>
            <a:ext cx="3902075" cy="3200400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↓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↓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CNN		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23551-18A4-C504-865B-450D62D8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 dirty="0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B10A4B57-1D3F-657A-D73D-C2C4F99B3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9AB73D-2024-D02D-913F-DA08D069C29F}"/>
              </a:ext>
            </a:extLst>
          </p:cNvPr>
          <p:cNvSpPr txBox="1"/>
          <p:nvPr/>
        </p:nvSpPr>
        <p:spPr>
          <a:xfrm>
            <a:off x="4419600" y="2214404"/>
            <a:ext cx="487680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Detection</a:t>
            </a:r>
          </a:p>
        </p:txBody>
      </p:sp>
    </p:spTree>
    <p:extLst>
      <p:ext uri="{BB962C8B-B14F-4D97-AF65-F5344CB8AC3E}">
        <p14:creationId xmlns:p14="http://schemas.microsoft.com/office/powerpoint/2010/main" val="3637811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1: DATASET COLLECTION &amp; PREPARATION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E6ECBA5D-B29C-DAFD-42C9-911BFD4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67B8FA-7184-8182-1D3D-539E51E6D9F4}"/>
              </a:ext>
            </a:extLst>
          </p:cNvPr>
          <p:cNvSpPr txBox="1"/>
          <p:nvPr/>
        </p:nvSpPr>
        <p:spPr>
          <a:xfrm>
            <a:off x="838200" y="2828836"/>
            <a:ext cx="4343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Activities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image collection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 image collection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image collection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cleaning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removal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labelling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organization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/ validation / test split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balancing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C570A-C426-57C9-5D55-97BDA31A092F}"/>
              </a:ext>
            </a:extLst>
          </p:cNvPr>
          <p:cNvSpPr txBox="1"/>
          <p:nvPr/>
        </p:nvSpPr>
        <p:spPr>
          <a:xfrm>
            <a:off x="5130413" y="3260441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dataset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Labelled images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classes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dataset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Training-ready data </a:t>
            </a:r>
          </a:p>
        </p:txBody>
      </p:sp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CD87-E760-4B7C-B35D-43DC2979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93D7F-5564-66DB-57E6-9C57A9BC2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92480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fr-F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2: IMAGE PREPROCESSING &amp; AUGMENTATION</a:t>
            </a: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A5BD3-BFD9-73CE-7EE0-A345E97C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03E18A2F-5E13-EFDC-5200-6479CE972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A96868-10FC-3951-196B-B463364ED4DD}"/>
              </a:ext>
            </a:extLst>
          </p:cNvPr>
          <p:cNvSpPr txBox="1"/>
          <p:nvPr/>
        </p:nvSpPr>
        <p:spPr>
          <a:xfrm>
            <a:off x="838200" y="2828836"/>
            <a:ext cx="4343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Activities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extraction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resizing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normalization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handling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 checking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flipping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Cropping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Brightness variation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01C36-DC81-457D-0AC6-8FCCEA8474FA}"/>
              </a:ext>
            </a:extLst>
          </p:cNvPr>
          <p:cNvSpPr txBox="1"/>
          <p:nvPr/>
        </p:nvSpPr>
        <p:spPr>
          <a:xfrm>
            <a:off x="4661535" y="318755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images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samples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input size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model generalization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937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734B-68DD-11E9-EC92-DC9EBB43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0F48-9900-E699-8E7C-485A5FA6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3: TRANSFER LEARNING MODEL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8A178-4484-F400-6B63-DD63C4A9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CF87385-73B9-8068-EB3A-A01689760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CDE2DC-EEAC-D2CE-2BDB-456A8EA07B9A}"/>
              </a:ext>
            </a:extLst>
          </p:cNvPr>
          <p:cNvSpPr txBox="1"/>
          <p:nvPr/>
        </p:nvSpPr>
        <p:spPr>
          <a:xfrm>
            <a:off x="838200" y="2828836"/>
            <a:ext cx="4343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Activities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model selection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backbone initialization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head replacement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/ Smoke / Normal classes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layer freezing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unfreezing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8900D-1602-5937-5D35-0B3A443247A7}"/>
              </a:ext>
            </a:extLst>
          </p:cNvPr>
          <p:cNvSpPr txBox="1"/>
          <p:nvPr/>
        </p:nvSpPr>
        <p:spPr>
          <a:xfrm>
            <a:off x="5130413" y="3260441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Deep Learning model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probabilities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metrics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model weights</a:t>
            </a:r>
          </a:p>
        </p:txBody>
      </p:sp>
    </p:spTree>
    <p:extLst>
      <p:ext uri="{BB962C8B-B14F-4D97-AF65-F5344CB8AC3E}">
        <p14:creationId xmlns:p14="http://schemas.microsoft.com/office/powerpoint/2010/main" val="2560637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F544-2C36-12EB-FE4D-9B89EC64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9216C-A6DA-8217-BAC3-F25BBDEC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4: REAL-TIME FIRE &amp; SMOKE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EBEDB-7264-6EAD-1529-97252B39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2BED6DE2-CB31-8660-BDF3-899CDB6D8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F850D9-8562-2108-A54D-1AA7B2B926B6}"/>
              </a:ext>
            </a:extLst>
          </p:cNvPr>
          <p:cNvSpPr txBox="1"/>
          <p:nvPr/>
        </p:nvSpPr>
        <p:spPr>
          <a:xfrm>
            <a:off x="838200" y="2828836"/>
            <a:ext cx="4343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Activities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 integration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integration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video stream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Frame-by-frame processing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inference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prediction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 prediction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prediction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Annotated video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56090-4A2A-A260-818B-07F712DED13C}"/>
              </a:ext>
            </a:extLst>
          </p:cNvPr>
          <p:cNvSpPr txBox="1"/>
          <p:nvPr/>
        </p:nvSpPr>
        <p:spPr>
          <a:xfrm>
            <a:off x="5130413" y="3260441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label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 label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label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detection display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461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A26AC-85C9-1387-59CE-12B6E4BB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3D58-36EE-5F40-1937-77CA1B26F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 5: ALERT SYSTEM &amp; PERFORMANCE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14AC3-A35C-5089-F986-5C4417F6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B238CDD2-7B7D-3AC0-142B-22FF984CB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CD461F-DF0B-B4A8-4C2F-B0797AABC4C8}"/>
              </a:ext>
            </a:extLst>
          </p:cNvPr>
          <p:cNvSpPr txBox="1"/>
          <p:nvPr/>
        </p:nvSpPr>
        <p:spPr>
          <a:xfrm>
            <a:off x="838200" y="2828836"/>
            <a:ext cx="4343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Activities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trigger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 activation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generation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history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calculation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calculation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calculation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calculation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060DA-BAAB-CCB4-F275-2D340718339F}"/>
              </a:ext>
            </a:extLst>
          </p:cNvPr>
          <p:cNvSpPr txBox="1"/>
          <p:nvPr/>
        </p:nvSpPr>
        <p:spPr>
          <a:xfrm>
            <a:off x="5130413" y="3260441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 message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notification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history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report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readiness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634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3AB83-B2B1-18F9-39B0-1BA709A4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28A25-5F53-DCBE-7975-5C981C81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0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FED8F-EC90-2E0E-6EDF-CE483FD9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F7F4BC68-E5CA-2E67-179C-D899E9070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9773A0-3D26-BFED-3974-D11DB88E30DB}"/>
              </a:ext>
            </a:extLst>
          </p:cNvPr>
          <p:cNvSpPr txBox="1"/>
          <p:nvPr/>
        </p:nvSpPr>
        <p:spPr>
          <a:xfrm>
            <a:off x="838200" y="2828836"/>
            <a:ext cx="80772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Delayed fire/smoke detection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Transfer Learning-based deep learning model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Faster response, improved safety, reduced damage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Value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Intelligent, scalable, and practical fire detection system.</a:t>
            </a:r>
          </a:p>
        </p:txBody>
      </p:sp>
    </p:spTree>
    <p:extLst>
      <p:ext uri="{BB962C8B-B14F-4D97-AF65-F5344CB8AC3E}">
        <p14:creationId xmlns:p14="http://schemas.microsoft.com/office/powerpoint/2010/main" val="2850170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25" y="1428575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417609" y="2106296"/>
            <a:ext cx="8726391" cy="4253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He, X. Zhang, S. Ren, and J. Sun, "Deep Residual Learning for Image Recognition,"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Conference on Computer Vision and Pattern Recognition (CVPR)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2016.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Tan and Q. Le,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Rethinking Model Scaling for Convolutional Neural Networks,"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International Conference on Machine Learning (ICML)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Howard et al., "Searching for MobileNetV3,"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 International Conference on Computer Vision (ICCV)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</a:t>
            </a:r>
          </a:p>
        </p:txBody>
      </p:sp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37C45DA2-5E82-C263-C424-8559C1B63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6105</TotalTime>
  <Words>883</Words>
  <Application>Microsoft Office PowerPoint</Application>
  <PresentationFormat>On-screen Show (4:3)</PresentationFormat>
  <Paragraphs>273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宋体</vt:lpstr>
      <vt:lpstr>Arial</vt:lpstr>
      <vt:lpstr>AvantGarde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 </vt:lpstr>
      <vt:lpstr>AIM AND OBJECTIVE</vt:lpstr>
      <vt:lpstr>Introduction</vt:lpstr>
      <vt:lpstr>Litrature Survey</vt:lpstr>
      <vt:lpstr>Problem Statement</vt:lpstr>
      <vt:lpstr>EXISTING SYSTEM</vt:lpstr>
      <vt:lpstr>Input </vt:lpstr>
      <vt:lpstr>OutCome </vt:lpstr>
      <vt:lpstr>PowerPoint Presentation</vt:lpstr>
      <vt:lpstr>Sustainable Development Goal (SDG) Implementation</vt:lpstr>
      <vt:lpstr>PROPOSED METHODOLOGY AND ALGORITHM </vt:lpstr>
      <vt:lpstr>MODULE 1: DATASET COLLECTION &amp; PREPARATION</vt:lpstr>
      <vt:lpstr>MODULE 2: IMAGE PREPROCESSING &amp; AUGMENTATION</vt:lpstr>
      <vt:lpstr>MODULE 3: TRANSFER LEARNING MODEL DEVELOPMENT</vt:lpstr>
      <vt:lpstr>MODULE 4: REAL-TIME FIRE &amp; SMOKE DETECTION</vt:lpstr>
      <vt:lpstr>MODULE 5: ALERT SYSTEM &amp; PERFORMANCE EVALUATION</vt:lpstr>
      <vt:lpstr>Conclusion</vt:lpstr>
      <vt:lpstr>References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s sham</cp:lastModifiedBy>
  <cp:revision>429</cp:revision>
  <dcterms:created xsi:type="dcterms:W3CDTF">2000-07-06T15:05:59Z</dcterms:created>
  <dcterms:modified xsi:type="dcterms:W3CDTF">2026-08-12T06:01:50Z</dcterms:modified>
</cp:coreProperties>
</file>