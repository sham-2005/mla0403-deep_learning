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48BB2-4D4B-443C-A0DB-68A4EA42EDA1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14E0A-4565-4BAB-B8C6-01B7A97A8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2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600670" y="5929931"/>
            <a:ext cx="10985550" cy="31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800" b="1"/>
            </a:lvl1pPr>
            <a:lvl2pPr marL="457200" lvl="1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685800" lvl="2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914400" lvl="3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1143000" lvl="4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371600" lvl="5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603248" y="1287496"/>
            <a:ext cx="1098555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5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600671" y="3611595"/>
            <a:ext cx="109855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5pPr>
            <a:lvl6pPr marL="1371600" lvl="5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78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/>
          <a:srcRect t="388" r="85449" b="9056"/>
          <a:stretch>
            <a:fillRect/>
          </a:stretch>
        </p:blipFill>
        <p:spPr>
          <a:xfrm>
            <a:off x="76861" y="-21950"/>
            <a:ext cx="998291" cy="111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/>
          <a:srcRect l="50059" r="34355" b="9675"/>
          <a:stretch>
            <a:fillRect/>
          </a:stretch>
        </p:blipFill>
        <p:spPr>
          <a:xfrm>
            <a:off x="11095094" y="106935"/>
            <a:ext cx="824848" cy="86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6000750" y="6212309"/>
            <a:ext cx="184200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5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6032525" y="6540604"/>
            <a:ext cx="120750" cy="1897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spAutoFit/>
          </a:bodyPr>
          <a:lstStyle/>
          <a:p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660500" y="594957"/>
            <a:ext cx="10985550" cy="1276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lnSpc>
                <a:spcPct val="80000"/>
              </a:lnSpc>
              <a:buClr>
                <a:srgbClr val="EB220C"/>
              </a:buClr>
              <a:buSzPts val="6032"/>
            </a:pPr>
            <a:r>
              <a:rPr lang="en-US" sz="30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30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30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30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30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4CC04-913C-4507-0096-D3CA1DF6EC0C}"/>
              </a:ext>
            </a:extLst>
          </p:cNvPr>
          <p:cNvSpPr txBox="1"/>
          <p:nvPr/>
        </p:nvSpPr>
        <p:spPr>
          <a:xfrm>
            <a:off x="3467789" y="2419805"/>
            <a:ext cx="4899610" cy="33214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9375F"/>
                </a:solidFill>
                <a:latin typeface="Aptos Display"/>
              </a:defRPr>
            </a:pPr>
            <a:r>
              <a:rPr dirty="0"/>
              <a:t>Autoencoder Variants</a:t>
            </a:r>
          </a:p>
          <a:p>
            <a:pPr algn="ctr">
              <a:spcBef>
                <a:spcPts val="2500"/>
              </a:spcBef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Undercomplete and Regularized Autoencoders</a:t>
            </a:r>
            <a:br>
              <a:rPr dirty="0"/>
            </a:br>
            <a:br>
              <a:rPr dirty="0"/>
            </a:br>
            <a:r>
              <a:rPr b="1" dirty="0"/>
              <a:t>SHAM S.</a:t>
            </a:r>
            <a:br>
              <a:rPr b="1" dirty="0"/>
            </a:br>
            <a:r>
              <a:rPr b="1" dirty="0"/>
              <a:t>192325076</a:t>
            </a:r>
            <a:br>
              <a:rPr dirty="0"/>
            </a:br>
            <a:br>
              <a:rPr dirty="0"/>
            </a:br>
            <a:r>
              <a:rPr dirty="0"/>
              <a:t>Supervisor</a:t>
            </a:r>
            <a:br>
              <a:rPr dirty="0"/>
            </a:br>
            <a:r>
              <a:rPr dirty="0"/>
              <a:t>Dr </a:t>
            </a:r>
            <a:r>
              <a:rPr lang="en-IN" dirty="0"/>
              <a:t>Arul Raj</a:t>
            </a:r>
            <a:r>
              <a:rPr dirty="0"/>
              <a:t>, Professor</a:t>
            </a:r>
            <a:br>
              <a:rPr dirty="0"/>
            </a:br>
            <a:r>
              <a:rPr dirty="0"/>
              <a:t>Department of Computer Science and Engineering</a:t>
            </a:r>
            <a:br>
              <a:rPr dirty="0"/>
            </a:br>
            <a:r>
              <a:rPr dirty="0"/>
              <a:t>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An autoencoder is a neural network that learns to reproduce its input.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It contains an Encoder, a Latent Representation, and a Decoder.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encoder converts the input into a compact feature representation.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decoder reconstructs the original input from that representation.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training objective is to make the reconstructed output as close as possible to the original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66360"/>
            <a:ext cx="2971800" cy="77724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5276088"/>
            <a:ext cx="2642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BASIC IDEA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Input → Encoder → Latent Space → Decoder →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246120" cy="274320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18488"/>
            <a:ext cx="29169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INPUT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Original data</a:t>
            </a:r>
            <a:br/>
            <a:br/>
            <a:r>
              <a:t>Example: 784 image pixels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246120" cy="274320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1618488"/>
            <a:ext cx="29169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ENCODER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Progressively reduces dimensions and learns useful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508760"/>
            <a:ext cx="3246120" cy="274320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1" y="1618488"/>
            <a:ext cx="29169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LATENT + DECODER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Latent vector stores compact information; decoder expands it into a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09160"/>
            <a:ext cx="8503920" cy="91440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2" y="4818888"/>
            <a:ext cx="8174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EXAMPLE ARCHITECTURE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784 → 256 → 64 → 16 → 64 → 256 → 784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Encoding and Decoding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029200" cy="1874519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47000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ENCODING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z = fθ(x)</a:t>
            </a:r>
            <a:br/>
            <a:r>
              <a:t>The encoder maps the input x to a latent representation 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5029200" cy="1874519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5392" y="1618488"/>
            <a:ext cx="47000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DECODING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x̂ = gφ(z)</a:t>
            </a:r>
            <a:br/>
            <a:r>
              <a:t>The decoder maps z back to the reconstructed input x̂.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3977639"/>
            <a:ext cx="9144000" cy="11887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19072" y="4087368"/>
            <a:ext cx="8814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COMPLETE FLOW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Input x  →  Encoder  →  Latent z  →  Decoder  →  Reconstructed x̂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Undercomplete Autoencoder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An undercomplete autoencoder has a latent representation with fewer dimensions than the input.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smaller bottleneck forces the network to retain important information.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Example: 100 input features → 10 latent features → 100 reconstructed features.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It is useful for compression, dimensionality reduction, and feature extraction.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bottleneck limits the model's ability to simply copy the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508760"/>
            <a:ext cx="3291840" cy="338328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2712" y="1618488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EXAMPLE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100 features</a:t>
            </a:r>
            <a:br/>
            <a:r>
              <a:t>↓</a:t>
            </a:r>
            <a:br/>
            <a:r>
              <a:t>64</a:t>
            </a:r>
            <a:br/>
            <a:r>
              <a:t>↓</a:t>
            </a:r>
            <a:br/>
            <a:r>
              <a:t>10 latent features</a:t>
            </a:r>
            <a:br/>
            <a:r>
              <a:t>↓</a:t>
            </a:r>
            <a:br/>
            <a:r>
              <a:t>64</a:t>
            </a:r>
            <a:br/>
            <a:r>
              <a:t>↓</a:t>
            </a:r>
            <a:br/>
            <a:r>
              <a:t>100 reconstructed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Reconstruction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329184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48371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RECONSTRUCTION LOSS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The model compares the original input x with reconstructed output x̂.</a:t>
            </a:r>
            <a:br/>
            <a:br/>
            <a:r>
              <a:t>MSE:</a:t>
            </a:r>
            <a:br/>
            <a:r>
              <a:t>L(x,x̂) = 1/n Σ(xi − x̂i)²</a:t>
            </a:r>
            <a:br/>
            <a:br/>
            <a:r>
              <a:t>Lower loss means the reconstruction is closer to the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846320" cy="329184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5392" y="1618488"/>
            <a:ext cx="451713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OTHER LOSSES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Depending on the data, reconstruction can use:</a:t>
            </a:r>
            <a:br/>
            <a:br/>
            <a:r>
              <a:t>• Mean Absolute Error</a:t>
            </a:r>
            <a:br/>
            <a:r>
              <a:t>• Binary Cross-Entropy</a:t>
            </a:r>
            <a:br/>
            <a:r>
              <a:t>• Other suitable task-specific losses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Regularized Autoencoder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Regularized autoencoders add constraints or penalties to guide the learned representation.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Without constraints, a high-capacity network may learn an almost direct identity mapping.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Regularization encourages features that are useful, stable, and less dependent on memorization.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A general objective is: Ltotal = Lreconstruction + λLregularization.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parameter λ controls the strength of the regularization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Types of Regularization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SPARSE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Encourages only a small number of latent units to be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1527048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DENOISING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Learns to recover clean data from a corrupted or noisy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1" y="1527048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CONTRACTIVE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Encourages the representation to be less sensitive to small input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42900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3538728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L1 / L2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Applies weight penalties to control model complexity.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42900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3538728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DROPOUT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Randomly disables units during training to improve generalization.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Dimensionality Reduction &amp; Feature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20640" cy="34747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4791455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DIMENSIONALITY REDUCTION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Example:</a:t>
            </a:r>
            <a:br/>
            <a:r>
              <a:t>1000 original features</a:t>
            </a:r>
            <a:br/>
            <a:r>
              <a:t>↓</a:t>
            </a:r>
            <a:br/>
            <a:r>
              <a:t>Encoder</a:t>
            </a:r>
            <a:br/>
            <a:r>
              <a:t>↓</a:t>
            </a:r>
            <a:br/>
            <a:r>
              <a:t>50 latent features</a:t>
            </a:r>
            <a:br/>
            <a:br/>
            <a:r>
              <a:t>The compact representation can support visualization, clustering, classification, compression, and anomaly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074920" cy="34747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672" y="1527048"/>
            <a:ext cx="474573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FEATURE LEARNING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The encoder automatically discovers useful patterns.</a:t>
            </a:r>
            <a:br/>
            <a:br/>
            <a:r>
              <a:t>For images, learned features can represent edges, shapes, textures, and higher-level structures.</a:t>
            </a:r>
            <a:br/>
            <a:br/>
            <a:r>
              <a:t>Latent features can be reused by downstream ML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Autoencoders learn representations by reconstructing their inputs.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 encoder creates a latent representation and the decoder reconstructs the input.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Undercomplete autoencoders use a smaller bottleneck for compression and feature extraction.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Regularized autoencoders add constraints to encourage robust and meaningful representations.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• These models are useful for dimensionality reduction, feature learning, denoising, compression, and anomaly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5212080"/>
            <a:ext cx="8138160" cy="731520"/>
          </a:xfrm>
          <a:prstGeom prst="roundRect">
            <a:avLst/>
          </a:prstGeom>
          <a:solidFill>
            <a:srgbClr val="E1EBF6"/>
          </a:solidFill>
          <a:ln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76272" y="5321808"/>
            <a:ext cx="7808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375F"/>
                </a:solidFill>
                <a:latin typeface="Aptos"/>
              </a:defRPr>
            </a:pPr>
            <a:r>
              <a:t>KEY FORMULA</a:t>
            </a:r>
          </a:p>
          <a:p>
            <a:pPr>
              <a:spcBef>
                <a:spcPts val="700"/>
              </a:spcBef>
              <a:defRPr sz="1400">
                <a:solidFill>
                  <a:srgbClr val="191919"/>
                </a:solidFill>
                <a:latin typeface="Aptos"/>
              </a:defRPr>
            </a:pPr>
            <a:r>
              <a:t>Ltotal = Lreconstruction + λLregularization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716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sham</cp:lastModifiedBy>
  <cp:revision>2</cp:revision>
  <dcterms:created xsi:type="dcterms:W3CDTF">2013-01-27T09:14:16Z</dcterms:created>
  <dcterms:modified xsi:type="dcterms:W3CDTF">2026-09-03T10:39:54Z</dcterms:modified>
  <cp:category/>
</cp:coreProperties>
</file>